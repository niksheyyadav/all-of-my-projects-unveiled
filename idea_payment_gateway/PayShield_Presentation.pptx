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2" r:id="rId3"/>
    <p:sldId id="264" r:id="rId4"/>
    <p:sldId id="274" r:id="rId16"/>
    <p:sldId id="265" r:id="rId5"/>
    <p:sldId id="272" r:id="rId6"/>
    <p:sldId id="273" r:id="rId7"/>
  </p:sldIdLst>
  <p:sldSz cx="14630400" cy="8229600"/>
  <p:notesSz cx="8229600" cy="14630400"/>
  <p:embeddedFontLst>
    <p:embeddedFont>
      <p:font typeface="Gelasio" panose="020B0604020202020204" charset="0"/>
      <p:regular r:id="rId9"/>
    </p:embeddedFont>
    <p:embeddedFont>
      <p:font typeface="Lato" panose="020F0502020204030203" pitchFamily="34" charset="0"/>
      <p:regular r:id="rId10"/>
      <p:bold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217" autoAdjust="0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12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Relationship Id="rId16" Type="http://schemas.openxmlformats.org/officeDocument/2006/relationships/slide" Target="slides/slide7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937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348DD-C079-6725-E16C-51E3CDC56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4CE518-521E-14FB-BBB0-59F01B3E57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B5CD59-C55E-B3C5-BD8D-299F8FCE25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4728F9-496D-183B-F4A1-2D2AADD778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837766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29878" y="3218378"/>
            <a:ext cx="297668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93790" y="471630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Your Name · Course Name · College Name</a:t>
            </a:r>
            <a:endParaRPr lang="en-US" sz="175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9E45D80-9A82-A2C4-629E-2208AF847522}"/>
              </a:ext>
            </a:extLst>
          </p:cNvPr>
          <p:cNvGrpSpPr/>
          <p:nvPr/>
        </p:nvGrpSpPr>
        <p:grpSpPr>
          <a:xfrm>
            <a:off x="0" y="0"/>
            <a:ext cx="14630400" cy="1567874"/>
            <a:chOff x="-1" y="-320197"/>
            <a:chExt cx="33256329" cy="4180997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08C2667-0BD2-EFC7-9A80-00509AE08CB1}"/>
                </a:ext>
              </a:extLst>
            </p:cNvPr>
            <p:cNvGrpSpPr/>
            <p:nvPr/>
          </p:nvGrpSpPr>
          <p:grpSpPr>
            <a:xfrm>
              <a:off x="-1" y="-320197"/>
              <a:ext cx="33256329" cy="4180997"/>
              <a:chOff x="-1" y="-320197"/>
              <a:chExt cx="33256329" cy="4180997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980114F-B53F-91BC-02FD-1DB49D053F78}"/>
                  </a:ext>
                </a:extLst>
              </p:cNvPr>
              <p:cNvSpPr/>
              <p:nvPr/>
            </p:nvSpPr>
            <p:spPr>
              <a:xfrm>
                <a:off x="-1" y="-320197"/>
                <a:ext cx="33256329" cy="3860800"/>
              </a:xfrm>
              <a:prstGeom prst="rect">
                <a:avLst/>
              </a:prstGeom>
              <a:solidFill>
                <a:srgbClr val="0060AA"/>
              </a:solidFill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 dirty="0"/>
              </a:p>
            </p:txBody>
          </p:sp>
          <p:sp>
            <p:nvSpPr>
              <p:cNvPr id="13" name="Rectangle 8">
                <a:extLst>
                  <a:ext uri="{FF2B5EF4-FFF2-40B4-BE49-F238E27FC236}">
                    <a16:creationId xmlns:a16="http://schemas.microsoft.com/office/drawing/2014/main" id="{3D2F664D-11A1-7D05-C2AF-1A9B8D140D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30258" y="925048"/>
                <a:ext cx="14490202" cy="20107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91402" tIns="45701" rIns="91402" bIns="45701">
                <a:spAutoFit/>
              </a:bodyPr>
              <a:lstStyle/>
              <a:p>
                <a:pPr algn="ctr">
                  <a:lnSpc>
                    <a:spcPts val="5550"/>
                  </a:lnSpc>
                </a:pPr>
                <a:r>
                  <a:rPr lang="en-US" sz="3200" dirty="0">
                    <a:solidFill>
                      <a:schemeClr val="bg1"/>
                    </a:solidFill>
                    <a:latin typeface="Gelasio" pitchFamily="34" charset="0"/>
                    <a:ea typeface="Gelasio" pitchFamily="34" charset="-122"/>
                    <a:cs typeface="Gelasio" pitchFamily="34" charset="-120"/>
                  </a:rPr>
                  <a:t>Real-Time Scam Prevention System for Digital Payments</a:t>
                </a:r>
                <a:endParaRPr lang="en-US" sz="3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Flowchart: Manual Input 13">
                <a:extLst>
                  <a:ext uri="{FF2B5EF4-FFF2-40B4-BE49-F238E27FC236}">
                    <a16:creationId xmlns:a16="http://schemas.microsoft.com/office/drawing/2014/main" id="{C5F365C5-D672-068A-AA85-DE3BCDDAD1C5}"/>
                  </a:ext>
                </a:extLst>
              </p:cNvPr>
              <p:cNvSpPr/>
              <p:nvPr/>
            </p:nvSpPr>
            <p:spPr>
              <a:xfrm rot="5400000">
                <a:off x="2556933" y="-2556934"/>
                <a:ext cx="3860800" cy="8974667"/>
              </a:xfrm>
              <a:prstGeom prst="flowChartManualInpu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</p:grp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A2407BD-D98E-C65A-5789-32DB1E1E6C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49214" y="1253313"/>
              <a:ext cx="6607606" cy="2151129"/>
            </a:xfrm>
            <a:prstGeom prst="rect">
              <a:avLst/>
            </a:prstGeom>
          </p:spPr>
        </p:pic>
      </p:grpSp>
      <p:sp>
        <p:nvSpPr>
          <p:cNvPr id="20" name="Subtitle"/>
          <p:cNvSpPr/>
          <p:nvPr/>
        </p:nvSpPr>
        <p:spPr>
          <a:xfrm>
            <a:off x="7900000" y="3100000"/>
            <a:ext cx="6200000" cy="600000"/>
          </a:xfrm>
          <a:prstGeom prst="rect">
            <a:avLst/>
          </a:prstGeom>
          <a:noFill/>
          <a:ln/>
        </p:spPr>
        <p:txBody>
          <a:bodyPr wrap="square" lIns="91402" tIns="45701" rIns="91402" bIns="45701" rtlCol="0" anchor="ctr"/>
          <a:lstStyle/>
          <a:p>
            <a:pPr algn="ctr">
              <a:buNone/>
            </a:pPr>
            <a:r>
              <a:rPr lang="en-US" sz="1600" i="1" dirty="0">
                <a:solidFill>
                  <a:schemeClr val="bg1"/>
                </a:solidFill>
                <a:latin typeface="Lato" pitchFamily="34" charset="0"/>
              </a:rPr>
              <a:t>Behavioral Intervention Layer for Fraud Detection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9931E28-F33A-3DC7-0C3F-F082E354532E}"/>
              </a:ext>
            </a:extLst>
          </p:cNvPr>
          <p:cNvGrpSpPr/>
          <p:nvPr/>
        </p:nvGrpSpPr>
        <p:grpSpPr>
          <a:xfrm>
            <a:off x="0" y="0"/>
            <a:ext cx="14630400" cy="1447801"/>
            <a:chOff x="-1" y="0"/>
            <a:chExt cx="33256329" cy="3860803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92A2E49-AB0B-2C90-E7EA-4BF7E3220E11}"/>
                </a:ext>
              </a:extLst>
            </p:cNvPr>
            <p:cNvGrpSpPr/>
            <p:nvPr/>
          </p:nvGrpSpPr>
          <p:grpSpPr>
            <a:xfrm>
              <a:off x="-1" y="0"/>
              <a:ext cx="33256329" cy="3860803"/>
              <a:chOff x="-1" y="0"/>
              <a:chExt cx="33256329" cy="3860803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C612705-8DE3-673C-1E02-103F90750DAE}"/>
                  </a:ext>
                </a:extLst>
              </p:cNvPr>
              <p:cNvSpPr/>
              <p:nvPr/>
            </p:nvSpPr>
            <p:spPr>
              <a:xfrm>
                <a:off x="337927" y="3"/>
                <a:ext cx="32918401" cy="3860800"/>
              </a:xfrm>
              <a:prstGeom prst="rect">
                <a:avLst/>
              </a:prstGeom>
              <a:solidFill>
                <a:srgbClr val="0060AA"/>
              </a:solidFill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 dirty="0"/>
              </a:p>
            </p:txBody>
          </p:sp>
          <p:sp>
            <p:nvSpPr>
              <p:cNvPr id="12" name="Rectangle 8">
                <a:extLst>
                  <a:ext uri="{FF2B5EF4-FFF2-40B4-BE49-F238E27FC236}">
                    <a16:creationId xmlns:a16="http://schemas.microsoft.com/office/drawing/2014/main" id="{6E20E874-B756-EF36-3879-97013C17F9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37133" y="1253312"/>
                <a:ext cx="18834372" cy="15592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91402" tIns="45701" rIns="91402" bIns="45701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3200" dirty="0">
                    <a:solidFill>
                      <a:schemeClr val="bg1"/>
                    </a:solidFill>
                    <a:latin typeface="Gelasio" pitchFamily="34" charset="0"/>
                    <a:ea typeface="Gelasio" pitchFamily="34" charset="-122"/>
                    <a:cs typeface="Gelasio" pitchFamily="34" charset="-120"/>
                  </a:rPr>
                  <a:t>SDG 9: Industry, Innovation &amp; Infrastructure</a:t>
                </a:r>
                <a:endParaRPr lang="en-US" sz="3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Flowchart: Manual Input 12">
                <a:extLst>
                  <a:ext uri="{FF2B5EF4-FFF2-40B4-BE49-F238E27FC236}">
                    <a16:creationId xmlns:a16="http://schemas.microsoft.com/office/drawing/2014/main" id="{81F064E5-2BA4-948B-62E3-E13BD116E091}"/>
                  </a:ext>
                </a:extLst>
              </p:cNvPr>
              <p:cNvSpPr/>
              <p:nvPr/>
            </p:nvSpPr>
            <p:spPr>
              <a:xfrm rot="5400000">
                <a:off x="2556933" y="-2556934"/>
                <a:ext cx="3860800" cy="8974667"/>
              </a:xfrm>
              <a:prstGeom prst="flowChartManualInpu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</p:grp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44A914F-CE32-A8D2-3D20-426A6EFE11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49214" y="1253313"/>
              <a:ext cx="6607606" cy="2151129"/>
            </a:xfrm>
            <a:prstGeom prst="rect">
              <a:avLst/>
            </a:prstGeom>
          </p:spPr>
        </p:pic>
      </p:grpSp>
      <p:sp>
        <p:nvSpPr>
          <p:cNvPr id="30" name="Content30"/>
          <p:cNvSpPr/>
          <p:nvPr/>
        </p:nvSpPr>
        <p:spPr>
          <a:xfrm>
            <a:off x="7800000" y="1600000"/>
            <a:ext cx="6400000" cy="5900000"/>
          </a:xfrm>
          <a:prstGeom prst="rect">
            <a:avLst/>
          </a:prstGeom>
          <a:noFill/>
          <a:ln/>
        </p:spPr>
        <p:txBody>
          <a:bodyPr wrap="square" lIns="91402" tIns="91402" rIns="91402" bIns="91402" rtlCol="0" anchor="t"/>
          <a:lstStyle/>
          <a:p>
            <a:pPr algn="l">
              <a:lnSpc>
                <a:spcPts val="18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Lato" pitchFamily="34" charset="0"/>
              </a:rPr>
              <a:t>SDG 9: Industry, Innovation &amp; Infrastructure</a:t>
            </a:r>
          </a:p>
          <a:p>
            <a:pPr algn="l">
              <a:lnSpc>
                <a:spcPts val="18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Lato" pitchFamily="34" charset="0"/>
              </a:rPr>
              <a:t/>
            </a:r>
          </a:p>
          <a:p>
            <a:pPr marL="342900" indent="-342900" algn="l">
              <a:lnSpc>
                <a:spcPts val="1800"/>
              </a:lnSpc>
              <a:buChar char="–"/>
            </a:pPr>
            <a:r>
              <a:rPr lang="en-US" sz="1600" dirty="0">
                <a:solidFill>
                  <a:srgbClr val="FFFFFF"/>
                </a:solidFill>
                <a:latin typeface="Lato" pitchFamily="34" charset="0"/>
              </a:rPr>
              <a:t>Promotes secure digital financial systems</a:t>
            </a:r>
          </a:p>
          <a:p>
            <a:pPr marL="342900" indent="-342900" algn="l">
              <a:lnSpc>
                <a:spcPts val="1800"/>
              </a:lnSpc>
              <a:buChar char="–"/>
            </a:pPr>
            <a:r>
              <a:rPr lang="en-US" sz="1600" dirty="0">
                <a:solidFill>
                  <a:srgbClr val="FFFFFF"/>
                </a:solidFill>
                <a:latin typeface="Lato" pitchFamily="34" charset="0"/>
              </a:rPr>
              <a:t>Enhances trust in digital payment infrastructure</a:t>
            </a:r>
          </a:p>
          <a:p>
            <a:pPr marL="342900" indent="-342900" algn="l">
              <a:lnSpc>
                <a:spcPts val="1800"/>
              </a:lnSpc>
              <a:buChar char="–"/>
            </a:pPr>
            <a:r>
              <a:rPr lang="en-US" sz="1600" dirty="0">
                <a:solidFill>
                  <a:srgbClr val="FFFFFF"/>
                </a:solidFill>
                <a:latin typeface="Lato" pitchFamily="34" charset="0"/>
              </a:rPr>
              <a:t>Reduces financial fraud risks in emerging economies</a:t>
            </a:r>
          </a:p>
          <a:p>
            <a:pPr algn="l">
              <a:lnSpc>
                <a:spcPts val="18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Lato" pitchFamily="34" charset="0"/>
              </a:rPr>
              <a:t/>
            </a:r>
          </a:p>
          <a:p>
            <a:pPr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D966"/>
                </a:solidFill>
                <a:latin typeface="Lato" pitchFamily="34" charset="0"/>
              </a:rPr>
              <a:t>India processes 14 billion+ UPI transactions/year.</a:t>
            </a:r>
          </a:p>
          <a:p>
            <a:pPr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FFD966"/>
                </a:solidFill>
                <a:latin typeface="Lato" pitchFamily="34" charset="0"/>
              </a:rPr>
              <a:t>Securing this infrastructure is a development imperative.</a:t>
            </a:r>
          </a:p>
        </p:txBody>
      </p:sp>
    </p:spTree>
    <p:extLst>
      <p:ext uri="{BB962C8B-B14F-4D97-AF65-F5344CB8AC3E}">
        <p14:creationId xmlns:p14="http://schemas.microsoft.com/office/powerpoint/2010/main" val="1170176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79609-354B-3FE7-D6B0-3851D400E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4D88B23D-80C4-9207-5206-9864C045C1C6}"/>
              </a:ext>
            </a:extLst>
          </p:cNvPr>
          <p:cNvSpPr/>
          <p:nvPr/>
        </p:nvSpPr>
        <p:spPr>
          <a:xfrm>
            <a:off x="929878" y="3218378"/>
            <a:ext cx="297668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endParaRPr lang="en-US" sz="14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49D8C75-DE8E-406C-4F09-6A69FF0BCEE1}"/>
              </a:ext>
            </a:extLst>
          </p:cNvPr>
          <p:cNvGrpSpPr/>
          <p:nvPr/>
        </p:nvGrpSpPr>
        <p:grpSpPr>
          <a:xfrm>
            <a:off x="-1" y="0"/>
            <a:ext cx="14630401" cy="1447800"/>
            <a:chOff x="-1" y="0"/>
            <a:chExt cx="33256331" cy="386080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C27158D-8476-89C9-3BF7-488DA9C70167}"/>
                </a:ext>
              </a:extLst>
            </p:cNvPr>
            <p:cNvGrpSpPr/>
            <p:nvPr/>
          </p:nvGrpSpPr>
          <p:grpSpPr>
            <a:xfrm>
              <a:off x="-1" y="0"/>
              <a:ext cx="33256331" cy="3860800"/>
              <a:chOff x="-1" y="0"/>
              <a:chExt cx="33256331" cy="3860800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78A7350-8F7B-84E2-13F7-EE1C366C602A}"/>
                  </a:ext>
                </a:extLst>
              </p:cNvPr>
              <p:cNvSpPr/>
              <p:nvPr/>
            </p:nvSpPr>
            <p:spPr>
              <a:xfrm>
                <a:off x="337930" y="0"/>
                <a:ext cx="32918400" cy="3860800"/>
              </a:xfrm>
              <a:prstGeom prst="rect">
                <a:avLst/>
              </a:prstGeom>
              <a:solidFill>
                <a:srgbClr val="0060AA"/>
              </a:solidFill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 dirty="0"/>
              </a:p>
            </p:txBody>
          </p:sp>
          <p:sp>
            <p:nvSpPr>
              <p:cNvPr id="13" name="Rectangle 8">
                <a:extLst>
                  <a:ext uri="{FF2B5EF4-FFF2-40B4-BE49-F238E27FC236}">
                    <a16:creationId xmlns:a16="http://schemas.microsoft.com/office/drawing/2014/main" id="{58D81FAC-9DB6-3FB2-048B-C4F403B7C4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29949" y="1150749"/>
                <a:ext cx="14490202" cy="15592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91402" tIns="45701" rIns="91402" bIns="45701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3200" dirty="0">
                    <a:solidFill>
                      <a:schemeClr val="bg1"/>
                    </a:solidFill>
                    <a:latin typeface="Lato" pitchFamily="34" charset="0"/>
                    <a:ea typeface="Lato" pitchFamily="34" charset="-122"/>
                    <a:cs typeface="Lato" pitchFamily="34" charset="-120"/>
                  </a:rPr>
                  <a:t>PROBLEM STATEMENT</a:t>
                </a:r>
                <a:endParaRPr lang="en-US" sz="32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" name="Flowchart: Manual Input 13">
                <a:extLst>
                  <a:ext uri="{FF2B5EF4-FFF2-40B4-BE49-F238E27FC236}">
                    <a16:creationId xmlns:a16="http://schemas.microsoft.com/office/drawing/2014/main" id="{8BB874FC-F25F-223E-EB53-143FA92DD350}"/>
                  </a:ext>
                </a:extLst>
              </p:cNvPr>
              <p:cNvSpPr/>
              <p:nvPr/>
            </p:nvSpPr>
            <p:spPr>
              <a:xfrm rot="5400000">
                <a:off x="2556933" y="-2556934"/>
                <a:ext cx="3860800" cy="8974667"/>
              </a:xfrm>
              <a:prstGeom prst="flowChartManualInpu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</p:grp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3292B11-02D9-A60D-1465-43B6429913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49214" y="1253313"/>
              <a:ext cx="6607606" cy="2151129"/>
            </a:xfrm>
            <a:prstGeom prst="rect">
              <a:avLst/>
            </a:prstGeom>
          </p:spPr>
        </p:pic>
      </p:grpSp>
      <p:sp>
        <p:nvSpPr>
          <p:cNvPr id="30" name="Content30"/>
          <p:cNvSpPr/>
          <p:nvPr/>
        </p:nvSpPr>
        <p:spPr>
          <a:xfrm>
            <a:off x="7800000" y="1600000"/>
            <a:ext cx="6400000" cy="6200000"/>
          </a:xfrm>
          <a:prstGeom prst="rect">
            <a:avLst/>
          </a:prstGeom>
          <a:noFill/>
          <a:ln/>
        </p:spPr>
        <p:txBody>
          <a:bodyPr wrap="square" lIns="91402" tIns="91402" rIns="91402" bIns="91402" rtlCol="0" anchor="t"/>
          <a:lstStyle/>
          <a:p>
            <a:pPr algn="l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Lato" pitchFamily="34" charset="0"/>
              </a:rPr>
              <a:t>The Gap in Current Systems</a:t>
            </a:r>
          </a:p>
          <a:p>
            <a:pPr algn="l">
              <a:lnSpc>
                <a:spcPts val="18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ato" pitchFamily="34" charset="0"/>
              </a:rPr>
              <a:t/>
            </a:r>
          </a:p>
          <a:p>
            <a:pPr marL="342900" indent="-342900" algn="l">
              <a:lnSpc>
                <a:spcPts val="1800"/>
              </a:lnSpc>
              <a:buChar char="–"/>
            </a:pPr>
            <a:r>
              <a:rPr lang="en-US" sz="1500" dirty="0">
                <a:solidFill>
                  <a:srgbClr val="FFFFFF"/>
                </a:solidFill>
                <a:latin typeface="Lato" pitchFamily="34" charset="0"/>
              </a:rPr>
              <a:t>Rapid adoption of UPI and digital payments has increased financial fraud</a:t>
            </a:r>
          </a:p>
          <a:p>
            <a:pPr algn="l">
              <a:lnSpc>
                <a:spcPts val="18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Lato" pitchFamily="34" charset="0"/>
              </a:rPr>
              <a:t/>
            </a:r>
          </a:p>
          <a:p>
            <a:pPr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Lato" pitchFamily="34" charset="0"/>
              </a:rPr>
              <a:t>Users fall victim to:</a:t>
            </a:r>
          </a:p>
          <a:p>
            <a:pPr marL="342900" indent="-342900" algn="l">
              <a:lnSpc>
                <a:spcPts val="1800"/>
              </a:lnSpc>
              <a:buChar char="–"/>
            </a:pPr>
            <a:r>
              <a:rPr lang="en-US" sz="1500" dirty="0">
                <a:solidFill>
                  <a:srgbClr val="FFFFFF"/>
                </a:solidFill>
                <a:latin typeface="Lato" pitchFamily="34" charset="0"/>
              </a:rPr>
              <a:t>Phishing attacks and fake payment links</a:t>
            </a:r>
          </a:p>
          <a:p>
            <a:pPr marL="342900" indent="-342900" algn="l">
              <a:lnSpc>
                <a:spcPts val="1800"/>
              </a:lnSpc>
              <a:buChar char="–"/>
            </a:pPr>
            <a:r>
              <a:rPr lang="en-US" sz="1500" dirty="0">
                <a:solidFill>
                  <a:srgbClr val="FFFFFF"/>
                </a:solidFill>
                <a:latin typeface="Lato" pitchFamily="34" charset="0"/>
              </a:rPr>
              <a:t>Fake payment requests (send vs receive confusion)</a:t>
            </a:r>
          </a:p>
          <a:p>
            <a:pPr marL="342900" indent="-342900" algn="l">
              <a:lnSpc>
                <a:spcPts val="1800"/>
              </a:lnSpc>
              <a:buChar char="–"/>
            </a:pPr>
            <a:r>
              <a:rPr lang="en-US" sz="1500" dirty="0">
                <a:solidFill>
                  <a:srgbClr val="FFFFFF"/>
                </a:solidFill>
                <a:latin typeface="Lato" pitchFamily="34" charset="0"/>
              </a:rPr>
              <a:t>Social engineering and urgency-based scams</a:t>
            </a:r>
          </a:p>
          <a:p>
            <a:pPr algn="l">
              <a:lnSpc>
                <a:spcPts val="18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Lato" pitchFamily="34" charset="0"/>
              </a:rPr>
              <a:t/>
            </a:r>
          </a:p>
          <a:p>
            <a:pPr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D966"/>
                </a:solidFill>
                <a:latin typeface="Lato" pitchFamily="34" charset="0"/>
              </a:rPr>
              <a:t>Existing systems detect fraud — but fail to stop users at the moment of decision.</a:t>
            </a:r>
          </a:p>
          <a:p>
            <a:pPr algn="l">
              <a:lnSpc>
                <a:spcPts val="18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Lato" pitchFamily="34" charset="0"/>
              </a:rPr>
              <a:t/>
            </a:r>
          </a:p>
          <a:p>
            <a:pPr algn="l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D966"/>
                </a:solidFill>
                <a:latin typeface="Lato" pitchFamily="34" charset="0"/>
              </a:rPr>
              <a:t>Current systems detect scams. They do not prevent bad decisions.</a:t>
            </a:r>
          </a:p>
        </p:txBody>
      </p:sp>
    </p:spTree>
    <p:extLst>
      <p:ext uri="{BB962C8B-B14F-4D97-AF65-F5344CB8AC3E}">
        <p14:creationId xmlns:p14="http://schemas.microsoft.com/office/powerpoint/2010/main" val="2089687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DF626-3D7F-F87D-B422-DE2768E0B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2258860-3E27-3AA3-16FE-4DFD872BA249}"/>
              </a:ext>
            </a:extLst>
          </p:cNvPr>
          <p:cNvGrpSpPr/>
          <p:nvPr/>
        </p:nvGrpSpPr>
        <p:grpSpPr>
          <a:xfrm>
            <a:off x="-1" y="-1"/>
            <a:ext cx="14630400" cy="1447801"/>
            <a:chOff x="-1" y="0"/>
            <a:chExt cx="33256329" cy="3860803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C1533FC-0903-938B-EFE6-8B2D41342C89}"/>
                </a:ext>
              </a:extLst>
            </p:cNvPr>
            <p:cNvGrpSpPr/>
            <p:nvPr/>
          </p:nvGrpSpPr>
          <p:grpSpPr>
            <a:xfrm>
              <a:off x="-1" y="0"/>
              <a:ext cx="33256329" cy="3860803"/>
              <a:chOff x="-1" y="0"/>
              <a:chExt cx="33256329" cy="3860803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3BB40A4-2FC4-550B-9E06-CE47BE1AEB7D}"/>
                  </a:ext>
                </a:extLst>
              </p:cNvPr>
              <p:cNvSpPr/>
              <p:nvPr/>
            </p:nvSpPr>
            <p:spPr>
              <a:xfrm>
                <a:off x="337927" y="3"/>
                <a:ext cx="32918401" cy="3860800"/>
              </a:xfrm>
              <a:prstGeom prst="rect">
                <a:avLst/>
              </a:prstGeom>
              <a:solidFill>
                <a:srgbClr val="0060AA"/>
              </a:solidFill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 dirty="0"/>
              </a:p>
            </p:txBody>
          </p:sp>
          <p:sp>
            <p:nvSpPr>
              <p:cNvPr id="12" name="Rectangle 8">
                <a:extLst>
                  <a:ext uri="{FF2B5EF4-FFF2-40B4-BE49-F238E27FC236}">
                    <a16:creationId xmlns:a16="http://schemas.microsoft.com/office/drawing/2014/main" id="{3ACAB6F1-55F6-BB8E-E2D9-BD07136A39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37135" y="1253312"/>
                <a:ext cx="14490202" cy="15592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91402" tIns="45701" rIns="91402" bIns="45701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3200" dirty="0">
                    <a:solidFill>
                      <a:schemeClr val="bg1"/>
                    </a:solidFill>
                  </a:rPr>
                  <a:t>METHODOLOGY</a:t>
                </a:r>
              </a:p>
            </p:txBody>
          </p:sp>
          <p:sp>
            <p:nvSpPr>
              <p:cNvPr id="13" name="Flowchart: Manual Input 12">
                <a:extLst>
                  <a:ext uri="{FF2B5EF4-FFF2-40B4-BE49-F238E27FC236}">
                    <a16:creationId xmlns:a16="http://schemas.microsoft.com/office/drawing/2014/main" id="{C9C99DAA-288D-3233-DFC3-911CEDF24A10}"/>
                  </a:ext>
                </a:extLst>
              </p:cNvPr>
              <p:cNvSpPr/>
              <p:nvPr/>
            </p:nvSpPr>
            <p:spPr>
              <a:xfrm rot="5400000">
                <a:off x="2556933" y="-2556934"/>
                <a:ext cx="3860800" cy="8974667"/>
              </a:xfrm>
              <a:prstGeom prst="flowChartManualInpu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</p:grp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8027C32-8411-B7F8-DCA3-25EC06DCE2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49214" y="1253313"/>
              <a:ext cx="6607606" cy="2151129"/>
            </a:xfrm>
            <a:prstGeom prst="rect">
              <a:avLst/>
            </a:prstGeom>
          </p:spPr>
        </p:pic>
      </p:grpSp>
      <p:sp>
        <p:nvSpPr>
          <p:cNvPr id="30" name="Content30"/>
          <p:cNvSpPr/>
          <p:nvPr/>
        </p:nvSpPr>
        <p:spPr>
          <a:xfrm>
            <a:off x="7800000" y="1600000"/>
            <a:ext cx="6400000" cy="6400000"/>
          </a:xfrm>
          <a:prstGeom prst="rect">
            <a:avLst/>
          </a:prstGeom>
          <a:noFill/>
          <a:ln/>
        </p:spPr>
        <p:txBody>
          <a:bodyPr wrap="square" lIns="91402" tIns="91402" rIns="91402" bIns="91402" rtlCol="0" anchor="t"/>
          <a:lstStyle/>
          <a:p>
            <a:pPr algn="l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D966"/>
                </a:solidFill>
                <a:latin typeface="Lato" pitchFamily="34" charset="0"/>
              </a:rPr>
              <a:t>Step 1: Context Capture</a:t>
            </a:r>
          </a:p>
          <a:p>
            <a:pPr marL="342900" indent="-342900" algn="l">
              <a:lnSpc>
                <a:spcPts val="1800"/>
              </a:lnSpc>
              <a:buChar char="–"/>
            </a:pPr>
            <a:r>
              <a:rPr lang="en-US" sz="1450" dirty="0">
                <a:solidFill>
                  <a:srgbClr val="FFFFFF"/>
                </a:solidFill>
                <a:latin typeface="Lato" pitchFamily="34" charset="0"/>
              </a:rPr>
              <a:t>Analyze user interaction — QR, messages, payment screen</a:t>
            </a:r>
          </a:p>
          <a:p>
            <a:pPr algn="l">
              <a:lnSpc>
                <a:spcPts val="18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Lato" pitchFamily="34" charset="0"/>
              </a:rPr>
              <a:t/>
            </a:r>
          </a:p>
          <a:p>
            <a:pPr algn="l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D966"/>
                </a:solidFill>
                <a:latin typeface="Lato" pitchFamily="34" charset="0"/>
              </a:rPr>
              <a:t>Step 2: Intent Detection</a:t>
            </a:r>
          </a:p>
          <a:p>
            <a:pPr marL="342900" indent="-342900" algn="l">
              <a:lnSpc>
                <a:spcPts val="1800"/>
              </a:lnSpc>
              <a:buChar char="–"/>
            </a:pPr>
            <a:r>
              <a:rPr lang="en-US" sz="1450" dirty="0">
                <a:solidFill>
                  <a:srgbClr val="FFFFFF"/>
                </a:solidFill>
                <a:latin typeface="Lato" pitchFamily="34" charset="0"/>
              </a:rPr>
              <a:t>Identify whether user intends to send or receive money</a:t>
            </a:r>
          </a:p>
          <a:p>
            <a:pPr algn="l">
              <a:lnSpc>
                <a:spcPts val="18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Lato" pitchFamily="34" charset="0"/>
              </a:rPr>
              <a:t/>
            </a:r>
          </a:p>
          <a:p>
            <a:pPr algn="l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D966"/>
                </a:solidFill>
                <a:latin typeface="Lato" pitchFamily="34" charset="0"/>
              </a:rPr>
              <a:t>Step 3: Risk Scoring</a:t>
            </a:r>
          </a:p>
          <a:p>
            <a:pPr marL="342900" indent="-342900" algn="l">
              <a:lnSpc>
                <a:spcPts val="1800"/>
              </a:lnSpc>
              <a:buChar char="–"/>
            </a:pPr>
            <a:r>
              <a:rPr lang="en-US" sz="1450" dirty="0">
                <a:solidFill>
                  <a:srgbClr val="FFFFFF"/>
                </a:solidFill>
                <a:latin typeface="Lato" pitchFamily="34" charset="0"/>
              </a:rPr>
              <a:t>Detect scam patterns — urgency, unknown contact, mismatch</a:t>
            </a:r>
          </a:p>
          <a:p>
            <a:pPr algn="l">
              <a:lnSpc>
                <a:spcPts val="18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Lato" pitchFamily="34" charset="0"/>
              </a:rPr>
              <a:t/>
            </a:r>
          </a:p>
          <a:p>
            <a:pPr algn="l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D966"/>
                </a:solidFill>
                <a:latin typeface="Lato" pitchFamily="34" charset="0"/>
              </a:rPr>
              <a:t>Step 4: Behavioral Intervention</a:t>
            </a:r>
          </a:p>
          <a:p>
            <a:pPr marL="342900" indent="-342900" algn="l">
              <a:lnSpc>
                <a:spcPts val="1800"/>
              </a:lnSpc>
              <a:buChar char="–"/>
            </a:pPr>
            <a:r>
              <a:rPr lang="en-US" sz="1450" dirty="0">
                <a:solidFill>
                  <a:srgbClr val="FFFFFF"/>
                </a:solidFill>
                <a:latin typeface="Lato" pitchFamily="34" charset="0"/>
              </a:rPr>
              <a:t>Show contradiction-based prompts + adaptive delay</a:t>
            </a:r>
          </a:p>
          <a:p>
            <a:pPr algn="l">
              <a:lnSpc>
                <a:spcPts val="18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Lato" pitchFamily="34" charset="0"/>
              </a:rPr>
              <a:t/>
            </a:r>
          </a:p>
          <a:p>
            <a:pPr algn="l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D966"/>
                </a:solidFill>
                <a:latin typeface="Lato" pitchFamily="34" charset="0"/>
              </a:rPr>
              <a:t>Step 5: Decision Reinforcement</a:t>
            </a:r>
          </a:p>
          <a:p>
            <a:pPr marL="342900" indent="-342900" algn="l">
              <a:lnSpc>
                <a:spcPts val="1800"/>
              </a:lnSpc>
              <a:buChar char="–"/>
            </a:pPr>
            <a:r>
              <a:rPr lang="en-US" sz="1450" dirty="0">
                <a:solidFill>
                  <a:srgbClr val="FFFFFF"/>
                </a:solidFill>
                <a:latin typeface="Lato" pitchFamily="34" charset="0"/>
              </a:rPr>
              <a:t>Force user to re-confirm intent with clarity</a:t>
            </a:r>
          </a:p>
        </p:txBody>
      </p:sp>
    </p:spTree>
    <p:extLst>
      <p:ext uri="{BB962C8B-B14F-4D97-AF65-F5344CB8AC3E}">
        <p14:creationId xmlns:p14="http://schemas.microsoft.com/office/powerpoint/2010/main" val="2377069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94DFB-8714-64BF-E80F-7465B1B74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02CCDCD-13EA-1B0E-94A6-E57940E5480E}"/>
              </a:ext>
            </a:extLst>
          </p:cNvPr>
          <p:cNvGrpSpPr/>
          <p:nvPr/>
        </p:nvGrpSpPr>
        <p:grpSpPr>
          <a:xfrm>
            <a:off x="-1" y="-1"/>
            <a:ext cx="14630400" cy="1447801"/>
            <a:chOff x="-1" y="0"/>
            <a:chExt cx="33256329" cy="3860803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793336B-3CD3-1DCA-616A-AE357D0315C0}"/>
                </a:ext>
              </a:extLst>
            </p:cNvPr>
            <p:cNvGrpSpPr/>
            <p:nvPr/>
          </p:nvGrpSpPr>
          <p:grpSpPr>
            <a:xfrm>
              <a:off x="-1" y="0"/>
              <a:ext cx="33256329" cy="3860803"/>
              <a:chOff x="-1" y="0"/>
              <a:chExt cx="33256329" cy="3860803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B725105-F369-5359-2073-308C853E262B}"/>
                  </a:ext>
                </a:extLst>
              </p:cNvPr>
              <p:cNvSpPr/>
              <p:nvPr/>
            </p:nvSpPr>
            <p:spPr>
              <a:xfrm>
                <a:off x="337927" y="3"/>
                <a:ext cx="32918401" cy="3860800"/>
              </a:xfrm>
              <a:prstGeom prst="rect">
                <a:avLst/>
              </a:prstGeom>
              <a:solidFill>
                <a:srgbClr val="0060AA"/>
              </a:solidFill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 dirty="0"/>
              </a:p>
            </p:txBody>
          </p:sp>
          <p:sp>
            <p:nvSpPr>
              <p:cNvPr id="12" name="Rectangle 8">
                <a:extLst>
                  <a:ext uri="{FF2B5EF4-FFF2-40B4-BE49-F238E27FC236}">
                    <a16:creationId xmlns:a16="http://schemas.microsoft.com/office/drawing/2014/main" id="{6D661E9A-4923-B2D4-B9C7-8D9C4D131A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37135" y="1578432"/>
                <a:ext cx="17677858" cy="11131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91402" tIns="45701" rIns="91402" bIns="45701">
                <a:spAutoFit/>
              </a:bodyPr>
              <a:lstStyle/>
              <a:p>
                <a:pPr>
                  <a:lnSpc>
                    <a:spcPts val="2250"/>
                  </a:lnSpc>
                </a:pPr>
                <a:r>
                  <a:rPr lang="en-US" sz="3200" dirty="0">
                    <a:solidFill>
                      <a:schemeClr val="bg1"/>
                    </a:solidFill>
                    <a:latin typeface="Lato" pitchFamily="34" charset="0"/>
                    <a:ea typeface="Lato" pitchFamily="34" charset="-122"/>
                    <a:cs typeface="Lato" pitchFamily="34" charset="-120"/>
                  </a:rPr>
                  <a:t>SOLUTION &amp; EXPECTED OUTCOME</a:t>
                </a:r>
                <a:endParaRPr lang="en-US" sz="3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Flowchart: Manual Input 12">
                <a:extLst>
                  <a:ext uri="{FF2B5EF4-FFF2-40B4-BE49-F238E27FC236}">
                    <a16:creationId xmlns:a16="http://schemas.microsoft.com/office/drawing/2014/main" id="{52A14C14-412B-1C25-8CE3-A2A28971EEB5}"/>
                  </a:ext>
                </a:extLst>
              </p:cNvPr>
              <p:cNvSpPr/>
              <p:nvPr/>
            </p:nvSpPr>
            <p:spPr>
              <a:xfrm rot="5400000">
                <a:off x="2556933" y="-2556934"/>
                <a:ext cx="3860800" cy="8974667"/>
              </a:xfrm>
              <a:prstGeom prst="flowChartManualInpu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</p:grp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B57B0DA-3628-9A9F-A3FC-559F0CF0EE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49214" y="1253313"/>
              <a:ext cx="6607606" cy="2151129"/>
            </a:xfrm>
            <a:prstGeom prst="rect">
              <a:avLst/>
            </a:prstGeom>
          </p:spPr>
        </p:pic>
      </p:grpSp>
      <p:sp>
        <p:nvSpPr>
          <p:cNvPr id="30" name="Content30"/>
          <p:cNvSpPr/>
          <p:nvPr/>
        </p:nvSpPr>
        <p:spPr>
          <a:xfrm>
            <a:off x="7800000" y="1700000"/>
            <a:ext cx="6400000" cy="6100000"/>
          </a:xfrm>
          <a:prstGeom prst="rect">
            <a:avLst/>
          </a:prstGeom>
          <a:noFill/>
          <a:ln/>
        </p:spPr>
        <p:txBody>
          <a:bodyPr wrap="square" lIns="91402" tIns="91402" rIns="91402" bIns="91402" rtlCol="0" anchor="t"/>
          <a:lstStyle/>
          <a:p>
            <a:pPr algn="l">
              <a:lnSpc>
                <a:spcPts val="1800"/>
              </a:lnSpc>
              <a:buNone/>
            </a:pPr>
            <a:r>
              <a:rPr lang="en-US" sz="1900" b="1" dirty="0">
                <a:solidFill>
                  <a:srgbClr val="FFD966"/>
                </a:solidFill>
                <a:latin typeface="Lato" pitchFamily="34" charset="0"/>
              </a:rPr>
              <a:t>Solution</a:t>
            </a:r>
          </a:p>
          <a:p>
            <a:pPr marL="342900" indent="-342900" algn="l">
              <a:lnSpc>
                <a:spcPts val="1800"/>
              </a:lnSpc>
              <a:buChar char="–"/>
            </a:pPr>
            <a:r>
              <a:rPr lang="en-US" sz="1450" dirty="0">
                <a:solidFill>
                  <a:srgbClr val="FFFFFF"/>
                </a:solidFill>
                <a:latin typeface="Lato" pitchFamily="34" charset="0"/>
              </a:rPr>
              <a:t>Real-time overlay system during payment transaction</a:t>
            </a:r>
          </a:p>
          <a:p>
            <a:pPr marL="342900" indent="-342900" algn="l">
              <a:lnSpc>
                <a:spcPts val="1800"/>
              </a:lnSpc>
              <a:buChar char="–"/>
            </a:pPr>
            <a:r>
              <a:rPr lang="en-US" sz="1450" dirty="0">
                <a:solidFill>
                  <a:srgbClr val="FFFFFF"/>
                </a:solidFill>
                <a:latin typeface="Lato" pitchFamily="34" charset="0"/>
              </a:rPr>
              <a:t>Detects intent mismatch (send vs receive confusion)</a:t>
            </a:r>
          </a:p>
          <a:p>
            <a:pPr marL="342900" indent="-342900" algn="l">
              <a:lnSpc>
                <a:spcPts val="1800"/>
              </a:lnSpc>
              <a:buChar char="–"/>
            </a:pPr>
            <a:r>
              <a:rPr lang="en-US" sz="1450" dirty="0">
                <a:solidFill>
                  <a:srgbClr val="FFFFFF"/>
                </a:solidFill>
                <a:latin typeface="Lato" pitchFamily="34" charset="0"/>
              </a:rPr>
              <a:t>Uses behavioral nudges instead of blocking</a:t>
            </a:r>
          </a:p>
          <a:p>
            <a:pPr marL="342900" indent="-342900" algn="l">
              <a:lnSpc>
                <a:spcPts val="1800"/>
              </a:lnSpc>
              <a:buChar char="–"/>
            </a:pPr>
            <a:r>
              <a:rPr lang="en-US" sz="1450" dirty="0">
                <a:solidFill>
                  <a:srgbClr val="FFFFFF"/>
                </a:solidFill>
                <a:latin typeface="Lato" pitchFamily="34" charset="0"/>
              </a:rPr>
              <a:t>Works without bank integration</a:t>
            </a:r>
          </a:p>
          <a:p>
            <a:pPr algn="l">
              <a:lnSpc>
                <a:spcPts val="18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Lato" pitchFamily="34" charset="0"/>
              </a:rPr>
              <a:t/>
            </a:r>
          </a:p>
          <a:p>
            <a:pPr algn="l">
              <a:lnSpc>
                <a:spcPts val="1800"/>
              </a:lnSpc>
              <a:buNone/>
            </a:pPr>
            <a:r>
              <a:rPr lang="en-US" sz="1900" b="1" dirty="0">
                <a:solidFill>
                  <a:srgbClr val="FFD966"/>
                </a:solidFill>
                <a:latin typeface="Lato" pitchFamily="34" charset="0"/>
              </a:rPr>
              <a:t>Expected Outcome</a:t>
            </a:r>
          </a:p>
          <a:p>
            <a:pPr marL="342900" indent="-342900" algn="l">
              <a:lnSpc>
                <a:spcPts val="1800"/>
              </a:lnSpc>
              <a:buChar char="–"/>
            </a:pPr>
            <a:r>
              <a:rPr lang="en-US" sz="1450" dirty="0">
                <a:solidFill>
                  <a:srgbClr val="FFFFFF"/>
                </a:solidFill>
                <a:latin typeface="Lato" pitchFamily="34" charset="0"/>
              </a:rPr>
              <a:t>Reduction in scam success rate</a:t>
            </a:r>
          </a:p>
          <a:p>
            <a:pPr marL="342900" indent="-342900" algn="l">
              <a:lnSpc>
                <a:spcPts val="1800"/>
              </a:lnSpc>
              <a:buChar char="–"/>
            </a:pPr>
            <a:r>
              <a:rPr lang="en-US" sz="1450" dirty="0">
                <a:solidFill>
                  <a:srgbClr val="FFFFFF"/>
                </a:solidFill>
                <a:latin typeface="Lato" pitchFamily="34" charset="0"/>
              </a:rPr>
              <a:t>Improved user decision-making under pressure</a:t>
            </a:r>
          </a:p>
          <a:p>
            <a:pPr marL="342900" indent="-342900" algn="l">
              <a:lnSpc>
                <a:spcPts val="1800"/>
              </a:lnSpc>
              <a:buChar char="–"/>
            </a:pPr>
            <a:r>
              <a:rPr lang="en-US" sz="1450" dirty="0">
                <a:solidFill>
                  <a:srgbClr val="FFFFFF"/>
                </a:solidFill>
                <a:latin typeface="Lato" pitchFamily="34" charset="0"/>
              </a:rPr>
              <a:t>Minimal friction for safe, legitimate transactions</a:t>
            </a:r>
          </a:p>
          <a:p>
            <a:pPr marL="342900" indent="-342900" algn="l">
              <a:lnSpc>
                <a:spcPts val="1800"/>
              </a:lnSpc>
              <a:buChar char="–"/>
            </a:pPr>
            <a:r>
              <a:rPr lang="en-US" sz="1450" dirty="0">
                <a:solidFill>
                  <a:srgbClr val="FFFFFF"/>
                </a:solidFill>
                <a:latin typeface="Lato" pitchFamily="34" charset="0"/>
              </a:rPr>
              <a:t>Effective even for low-awareness users</a:t>
            </a:r>
          </a:p>
        </p:txBody>
      </p:sp>
    </p:spTree>
    <p:extLst>
      <p:ext uri="{BB962C8B-B14F-4D97-AF65-F5344CB8AC3E}">
        <p14:creationId xmlns:p14="http://schemas.microsoft.com/office/powerpoint/2010/main" val="4025643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23EE1-93A1-E627-653B-335117FA0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05CE3FA-C05C-8008-166E-A24C72DF09EA}"/>
              </a:ext>
            </a:extLst>
          </p:cNvPr>
          <p:cNvGrpSpPr/>
          <p:nvPr/>
        </p:nvGrpSpPr>
        <p:grpSpPr>
          <a:xfrm>
            <a:off x="-1" y="-1"/>
            <a:ext cx="14630400" cy="1447801"/>
            <a:chOff x="-1" y="0"/>
            <a:chExt cx="33256329" cy="3860803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2CB26C6-67C4-3BA8-B064-56892C8D9F6A}"/>
                </a:ext>
              </a:extLst>
            </p:cNvPr>
            <p:cNvGrpSpPr/>
            <p:nvPr/>
          </p:nvGrpSpPr>
          <p:grpSpPr>
            <a:xfrm>
              <a:off x="-1" y="0"/>
              <a:ext cx="33256329" cy="3860803"/>
              <a:chOff x="-1" y="0"/>
              <a:chExt cx="33256329" cy="3860803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6D4575A-7FAD-9727-628F-C374BAD346A8}"/>
                  </a:ext>
                </a:extLst>
              </p:cNvPr>
              <p:cNvSpPr/>
              <p:nvPr/>
            </p:nvSpPr>
            <p:spPr>
              <a:xfrm>
                <a:off x="337927" y="3"/>
                <a:ext cx="32918401" cy="3860800"/>
              </a:xfrm>
              <a:prstGeom prst="rect">
                <a:avLst/>
              </a:prstGeom>
              <a:solidFill>
                <a:srgbClr val="0060AA"/>
              </a:solidFill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 dirty="0"/>
              </a:p>
            </p:txBody>
          </p:sp>
          <p:sp>
            <p:nvSpPr>
              <p:cNvPr id="12" name="Rectangle 8">
                <a:extLst>
                  <a:ext uri="{FF2B5EF4-FFF2-40B4-BE49-F238E27FC236}">
                    <a16:creationId xmlns:a16="http://schemas.microsoft.com/office/drawing/2014/main" id="{3747F3CE-F517-1D60-AF42-A88C08A283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37135" y="1578432"/>
                <a:ext cx="17677858" cy="11249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91402" tIns="45701" rIns="91402" bIns="45701">
                <a:spAutoFit/>
              </a:bodyPr>
              <a:lstStyle/>
              <a:p>
                <a:pPr algn="ctr">
                  <a:lnSpc>
                    <a:spcPts val="2250"/>
                  </a:lnSpc>
                </a:pPr>
                <a:r>
                  <a:rPr lang="en-US" sz="3200" dirty="0">
                    <a:solidFill>
                      <a:schemeClr val="bg1"/>
                    </a:solidFill>
                  </a:rPr>
                  <a:t>FLOW CHART</a:t>
                </a:r>
              </a:p>
            </p:txBody>
          </p:sp>
          <p:sp>
            <p:nvSpPr>
              <p:cNvPr id="13" name="Flowchart: Manual Input 12">
                <a:extLst>
                  <a:ext uri="{FF2B5EF4-FFF2-40B4-BE49-F238E27FC236}">
                    <a16:creationId xmlns:a16="http://schemas.microsoft.com/office/drawing/2014/main" id="{46DFE777-62FA-BFB5-9D9B-4ECBC5E0D96C}"/>
                  </a:ext>
                </a:extLst>
              </p:cNvPr>
              <p:cNvSpPr/>
              <p:nvPr/>
            </p:nvSpPr>
            <p:spPr>
              <a:xfrm rot="5400000">
                <a:off x="2556933" y="-2556934"/>
                <a:ext cx="3860800" cy="8974667"/>
              </a:xfrm>
              <a:prstGeom prst="flowChartManualInpu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</p:grp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15C8C15-6EF7-A644-DFD3-8277894CA3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49214" y="1253313"/>
              <a:ext cx="6607606" cy="2151129"/>
            </a:xfrm>
            <a:prstGeom prst="rect">
              <a:avLst/>
            </a:prstGeom>
          </p:spPr>
        </p:pic>
      </p:grpSp>
      <p:sp>
        <p:nvSpPr>
          <p:cNvPr id="30" name="Content30"/>
          <p:cNvSpPr/>
          <p:nvPr/>
        </p:nvSpPr>
        <p:spPr>
          <a:xfrm>
            <a:off x="7800000" y="1600000"/>
            <a:ext cx="6400000" cy="6400000"/>
          </a:xfrm>
          <a:prstGeom prst="rect">
            <a:avLst/>
          </a:prstGeom>
          <a:noFill/>
          <a:ln/>
        </p:spPr>
        <p:txBody>
          <a:bodyPr wrap="square" lIns="91402" tIns="91402" rIns="91402" bIns="91402" rtlCol="0" anchor="t"/>
          <a:lstStyle/>
          <a:p>
            <a:pPr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Lato" pitchFamily="34" charset="0"/>
              </a:rPr>
              <a:t>User Initiates Payment</a:t>
            </a:r>
          </a:p>
          <a:p>
            <a:pPr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D966"/>
                </a:solidFill>
                <a:latin typeface="Lato" pitchFamily="34" charset="0"/>
              </a:rPr>
              <a:t>▼</a:t>
            </a:r>
          </a:p>
          <a:p>
            <a:pPr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Lato" pitchFamily="34" charset="0"/>
              </a:rPr>
              <a:t>Context Analysis  (QR / Message / Contact)</a:t>
            </a:r>
          </a:p>
          <a:p>
            <a:pPr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D966"/>
                </a:solidFill>
                <a:latin typeface="Lato" pitchFamily="34" charset="0"/>
              </a:rPr>
              <a:t>▼</a:t>
            </a:r>
          </a:p>
          <a:p>
            <a:pPr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Lato" pitchFamily="34" charset="0"/>
              </a:rPr>
              <a:t>Intent Detection  (Send vs Receive)</a:t>
            </a:r>
          </a:p>
          <a:p>
            <a:pPr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D966"/>
                </a:solidFill>
                <a:latin typeface="Lato" pitchFamily="34" charset="0"/>
              </a:rPr>
              <a:t>▼</a:t>
            </a:r>
          </a:p>
          <a:p>
            <a:pPr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Lato" pitchFamily="34" charset="0"/>
              </a:rPr>
              <a:t>Risk Scoring</a:t>
            </a:r>
          </a:p>
          <a:p>
            <a:pPr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D966"/>
                </a:solidFill>
                <a:latin typeface="Lato" pitchFamily="34" charset="0"/>
              </a:rPr>
              <a:t>▼</a:t>
            </a:r>
          </a:p>
          <a:p>
            <a:pPr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7ED957"/>
                </a:solidFill>
                <a:latin typeface="Lato" pitchFamily="34" charset="0"/>
              </a:rPr>
              <a:t>Risk Low  →  Proceed Normally</a:t>
            </a:r>
          </a:p>
          <a:p>
            <a:pPr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6B6B"/>
                </a:solidFill>
                <a:latin typeface="Lato" pitchFamily="34" charset="0"/>
              </a:rPr>
              <a:t>Risk High  →  Trigger Intervention</a:t>
            </a:r>
          </a:p>
          <a:p>
            <a:pPr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D966"/>
                </a:solidFill>
                <a:latin typeface="Lato" pitchFamily="34" charset="0"/>
              </a:rPr>
              <a:t>▼</a:t>
            </a:r>
          </a:p>
          <a:p>
            <a:pPr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Lato" pitchFamily="34" charset="0"/>
              </a:rPr>
              <a:t>Contradiction Prompt + Adaptive Delay</a:t>
            </a:r>
          </a:p>
          <a:p>
            <a:pPr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D966"/>
                </a:solidFill>
                <a:latin typeface="Lato" pitchFamily="34" charset="0"/>
              </a:rPr>
              <a:t>▼</a:t>
            </a:r>
          </a:p>
          <a:p>
            <a:pPr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Lato" pitchFamily="34" charset="0"/>
              </a:rPr>
              <a:t>User Reconfirms Decision</a:t>
            </a:r>
          </a:p>
          <a:p>
            <a:pPr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D966"/>
                </a:solidFill>
                <a:latin typeface="Lato" pitchFamily="34" charset="0"/>
              </a:rPr>
              <a:t>▼</a:t>
            </a:r>
          </a:p>
          <a:p>
            <a:pPr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7ED957"/>
                </a:solidFill>
                <a:latin typeface="Lato" pitchFamily="34" charset="0"/>
              </a:rPr>
              <a:t>Transaction Completed</a:t>
            </a:r>
          </a:p>
        </p:txBody>
      </p:sp>
    </p:spTree>
    <p:extLst>
      <p:ext uri="{BB962C8B-B14F-4D97-AF65-F5344CB8AC3E}">
        <p14:creationId xmlns:p14="http://schemas.microsoft.com/office/powerpoint/2010/main" val="3870669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79609-354B-3FE7-D6B0-3851D400E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4D88B23D-80C4-9207-5206-9864C045C1C6}"/>
              </a:ext>
            </a:extLst>
          </p:cNvPr>
          <p:cNvSpPr/>
          <p:nvPr/>
        </p:nvSpPr>
        <p:spPr>
          <a:xfrm>
            <a:off x="929878" y="3218378"/>
            <a:ext cx="297668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endParaRPr lang="en-US" sz="14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49D8C75-DE8E-406C-4F09-6A69FF0BCEE1}"/>
              </a:ext>
            </a:extLst>
          </p:cNvPr>
          <p:cNvGrpSpPr/>
          <p:nvPr/>
        </p:nvGrpSpPr>
        <p:grpSpPr>
          <a:xfrm>
            <a:off x="-1" y="0"/>
            <a:ext cx="14630401" cy="1447800"/>
            <a:chOff x="-1" y="0"/>
            <a:chExt cx="33256331" cy="386080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C27158D-8476-89C9-3BF7-488DA9C70167}"/>
                </a:ext>
              </a:extLst>
            </p:cNvPr>
            <p:cNvGrpSpPr/>
            <p:nvPr/>
          </p:nvGrpSpPr>
          <p:grpSpPr>
            <a:xfrm>
              <a:off x="-1" y="0"/>
              <a:ext cx="33256331" cy="3860800"/>
              <a:chOff x="-1" y="0"/>
              <a:chExt cx="33256331" cy="3860800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78A7350-8F7B-84E2-13F7-EE1C366C602A}"/>
                  </a:ext>
                </a:extLst>
              </p:cNvPr>
              <p:cNvSpPr/>
              <p:nvPr/>
            </p:nvSpPr>
            <p:spPr>
              <a:xfrm>
                <a:off x="337930" y="0"/>
                <a:ext cx="32918400" cy="3860800"/>
              </a:xfrm>
              <a:prstGeom prst="rect">
                <a:avLst/>
              </a:prstGeom>
              <a:solidFill>
                <a:srgbClr val="0060AA"/>
              </a:solidFill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 dirty="0"/>
              </a:p>
            </p:txBody>
          </p:sp>
          <p:sp>
            <p:nvSpPr>
              <p:cNvPr id="13" name="Rectangle 8">
                <a:extLst>
                  <a:ext uri="{FF2B5EF4-FFF2-40B4-BE49-F238E27FC236}">
                    <a16:creationId xmlns:a16="http://schemas.microsoft.com/office/drawing/2014/main" id="{58D81FAC-9DB6-3FB2-048B-C4F403B7C4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29949" y="1150749"/>
                <a:ext cx="14490202" cy="15592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91402" tIns="45701" rIns="91402" bIns="45701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3200" dirty="0">
                    <a:solidFill>
                      <a:schemeClr val="bg1"/>
                    </a:solidFill>
                    <a:latin typeface="Lato" pitchFamily="34" charset="0"/>
                    <a:ea typeface="Lato" pitchFamily="34" charset="-122"/>
                    <a:cs typeface="Lato" pitchFamily="34" charset="-120"/>
                  </a:rPr>
                  <a:t>WHY EXISTING SOLUTIONS FAIL</a:t>
                </a:r>
                <a:endParaRPr lang="en-US" sz="32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" name="Flowchart: Manual Input 13">
                <a:extLst>
                  <a:ext uri="{FF2B5EF4-FFF2-40B4-BE49-F238E27FC236}">
                    <a16:creationId xmlns:a16="http://schemas.microsoft.com/office/drawing/2014/main" id="{8BB874FC-F25F-223E-EB53-143FA92DD350}"/>
                  </a:ext>
                </a:extLst>
              </p:cNvPr>
              <p:cNvSpPr/>
              <p:nvPr/>
            </p:nvSpPr>
            <p:spPr>
              <a:xfrm rot="5400000">
                <a:off x="2556933" y="-2556934"/>
                <a:ext cx="3860800" cy="8974667"/>
              </a:xfrm>
              <a:prstGeom prst="flowChartManualInpu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</p:grp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3292B11-02D9-A60D-1465-43B6429913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49214" y="1253313"/>
              <a:ext cx="6607606" cy="2151129"/>
            </a:xfrm>
            <a:prstGeom prst="rect">
              <a:avLst/>
            </a:prstGeom>
          </p:spPr>
        </p:pic>
      </p:grpSp>
      <p:sp>
        <p:nvSpPr>
          <p:cNvPr id="30" name="Content30"/>
          <p:cNvSpPr/>
          <p:nvPr/>
        </p:nvSpPr>
        <p:spPr>
          <a:xfrm>
            <a:off x="7800000" y="1600000"/>
            <a:ext cx="6400000" cy="6000000"/>
          </a:xfrm>
          <a:prstGeom prst="rect">
            <a:avLst/>
          </a:prstGeom>
          <a:noFill/>
          <a:ln/>
        </p:spPr>
        <p:txBody>
          <a:bodyPr wrap="square" lIns="91402" tIns="91402" rIns="91402" bIns="91402" rtlCol="0" anchor="t"/>
          <a:lstStyle/>
          <a:p>
            <a:pPr algn="l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Lato" pitchFamily="34" charset="0"/>
              </a:rPr>
              <a:t>Why Existing Solutions Fail</a:t>
            </a:r>
          </a:p>
          <a:p>
            <a:pPr algn="l">
              <a:lnSpc>
                <a:spcPts val="18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ato" pitchFamily="34" charset="0"/>
              </a:rPr>
              <a:t/>
            </a:r>
          </a:p>
          <a:p>
            <a:pPr marL="342900" indent="-342900" algn="l">
              <a:lnSpc>
                <a:spcPts val="1800"/>
              </a:lnSpc>
              <a:buChar char="–"/>
            </a:pPr>
            <a:r>
              <a:rPr lang="en-US" sz="1600" dirty="0">
                <a:solidFill>
                  <a:srgbClr val="FFFFFF"/>
                </a:solidFill>
                <a:latin typeface="Lato" pitchFamily="34" charset="0"/>
              </a:rPr>
              <a:t>Current systems rely solely on warnings</a:t>
            </a:r>
          </a:p>
          <a:p>
            <a:pPr marL="342900" indent="-342900" algn="l">
              <a:lnSpc>
                <a:spcPts val="1800"/>
              </a:lnSpc>
              <a:buChar char="–"/>
            </a:pPr>
            <a:r>
              <a:rPr lang="en-US" sz="1600" dirty="0">
                <a:solidFill>
                  <a:srgbClr val="FFFFFF"/>
                </a:solidFill>
                <a:latin typeface="Lato" pitchFamily="34" charset="0"/>
              </a:rPr>
              <a:t>Users ignore warnings due to trust in the scammer</a:t>
            </a:r>
          </a:p>
          <a:p>
            <a:pPr marL="342900" indent="-342900" algn="l">
              <a:lnSpc>
                <a:spcPts val="1800"/>
              </a:lnSpc>
              <a:buChar char="–"/>
            </a:pPr>
            <a:r>
              <a:rPr lang="en-US" sz="1600" dirty="0">
                <a:solidFill>
                  <a:srgbClr val="FFFFFF"/>
                </a:solidFill>
                <a:latin typeface="Lato" pitchFamily="34" charset="0"/>
              </a:rPr>
              <a:t>No system checks the user's logical intent</a:t>
            </a:r>
          </a:p>
          <a:p>
            <a:pPr marL="342900" indent="-342900" algn="l">
              <a:lnSpc>
                <a:spcPts val="1800"/>
              </a:lnSpc>
              <a:buChar char="–"/>
            </a:pPr>
            <a:r>
              <a:rPr lang="en-US" sz="1600" dirty="0">
                <a:solidFill>
                  <a:srgbClr val="FFFFFF"/>
                </a:solidFill>
                <a:latin typeface="Lato" pitchFamily="34" charset="0"/>
              </a:rPr>
              <a:t>No intervention at the decision psychology level</a:t>
            </a:r>
          </a:p>
          <a:p>
            <a:pPr algn="l">
              <a:lnSpc>
                <a:spcPts val="18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ato" pitchFamily="34" charset="0"/>
              </a:rPr>
              <a:t/>
            </a:r>
          </a:p>
          <a:p>
            <a:pPr algn="l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D966"/>
                </a:solidFill>
                <a:latin typeface="Lato" pitchFamily="34" charset="0"/>
              </a:rPr>
              <a:t>The intervention must happen BEFORE the decision —</a:t>
            </a:r>
          </a:p>
          <a:p>
            <a:pPr algn="l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D966"/>
                </a:solidFill>
                <a:latin typeface="Lato" pitchFamily="34" charset="0"/>
              </a:rPr>
              <a:t>not after the transaction.</a:t>
            </a:r>
          </a:p>
        </p:txBody>
      </p:sp>
    </p:spTree>
    <p:extLst>
      <p:ext uri="{BB962C8B-B14F-4D97-AF65-F5344CB8AC3E}">
        <p14:creationId xmlns:p14="http://schemas.microsoft.com/office/powerpoint/2010/main" val="2089687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39</Words>
  <Application>Microsoft Office PowerPoint</Application>
  <PresentationFormat>Custom</PresentationFormat>
  <Paragraphs>9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Gelasio</vt:lpstr>
      <vt:lpstr>Lato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PRINCE GUPTA</cp:lastModifiedBy>
  <cp:revision>5</cp:revision>
  <dcterms:created xsi:type="dcterms:W3CDTF">2026-04-20T06:55:12Z</dcterms:created>
  <dcterms:modified xsi:type="dcterms:W3CDTF">2026-04-20T08:21:41Z</dcterms:modified>
</cp:coreProperties>
</file>